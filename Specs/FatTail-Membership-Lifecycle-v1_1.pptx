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path starts with the $100 Observer purchase and ends in one of four standing states: Navigator, Activator, tools-only (lapsed Observer), or email-list-only (early dropout). All states are seated (Lifecycle Law v1.0, D1–D6). Every paid-tier cancel lands on Expired Observer. Early dropout keeps only the email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FatTail Membership Lifecycle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from the Observer purchase — and what enforces each step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Lifecycle Law v1.0 · Pricing Cards Plugin Spec v1.1  ·  2026-09-26 · deck v1.1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39319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7C8391"/>
          </a:solidFill>
          <a:ln w="12700">
            <a:solidFill>
              <a:srgbClr val="7C839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3931920"/>
            <a:ext cx="1645920" cy="457200"/>
          </a:xfrm>
          <a:prstGeom prst="roundRect">
            <a:avLst>
              <a:gd name="adj" fmla="val 50000"/>
            </a:avLst>
          </a:prstGeom>
          <a:solidFill>
            <a:srgbClr val="1E6FD9"/>
          </a:solidFill>
          <a:ln w="12700">
            <a:solidFill>
              <a:srgbClr val="1E6F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9120" y="3931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tiers, three different jobs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is a time-boxed on-ramp, Activator is the anchor, Navigator is the featured full membership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4572000"/>
          </a:xfrm>
          <a:prstGeom prst="roundRect">
            <a:avLst>
              <a:gd name="adj" fmla="val 3846"/>
            </a:avLst>
          </a:prstGeom>
          <a:solidFill>
            <a:srgbClr val="FDF1D6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 once  ·  six weeks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346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Navigator gets, for six weeks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Six-week training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it → lifetime tool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monthly/annual toggle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394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4572000"/>
          </a:xfrm>
          <a:prstGeom prst="roundRect">
            <a:avLst>
              <a:gd name="adj" fmla="val 3846"/>
            </a:avLst>
          </a:prstGeom>
          <a:solidFill>
            <a:srgbClr val="ECEEF1"/>
          </a:solidFill>
          <a:ln w="19050">
            <a:solidFill>
              <a:srgbClr val="7C839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Activator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 annual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83464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coaching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5394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— makes Navigator the obvious value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566160" cy="4754880"/>
          </a:xfrm>
          <a:prstGeom prst="roundRect">
            <a:avLst>
              <a:gd name="adj" fmla="val 3846"/>
            </a:avLst>
          </a:prstGeom>
          <a:solidFill>
            <a:srgbClr val="DCEBFF"/>
          </a:solidFill>
          <a:ln w="31750">
            <a:solidFill>
              <a:srgbClr val="1E6FD9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Navigator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103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 annual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265176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access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5394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card — the full membership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lifecycle — every path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3063240"/>
            <a:ext cx="1463040" cy="685800"/>
          </a:xfrm>
          <a:prstGeom prst="ellipse">
            <a:avLst/>
          </a:prstGeom>
          <a:solidFill>
            <a:srgbClr val="F3F4F6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06324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468880" y="29260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DF1D6"/>
          </a:solidFill>
          <a:ln w="22225">
            <a:solidFill>
              <a:srgbClr val="F2B1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42032" y="29718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· days 0–28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Navigator access + training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29260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FDF1D6"/>
          </a:solidFill>
          <a:ln w="22225">
            <a:solidFill>
              <a:srgbClr val="F2B13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9472" y="29718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· days 29–42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price on Navigator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42 days + course → floor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4937760"/>
            <a:ext cx="1920240" cy="731520"/>
          </a:xfrm>
          <a:prstGeom prst="roundRect">
            <a:avLst>
              <a:gd name="adj" fmla="val 15000"/>
            </a:avLst>
          </a:prstGeom>
          <a:solidFill>
            <a:srgbClr val="F3F4F6"/>
          </a:solidFill>
          <a:ln w="22225">
            <a:solidFill>
              <a:srgbClr val="6B72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19472" y="498348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Dropout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list only · no tools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52360" y="13258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DCEBFF"/>
          </a:solidFill>
          <a:ln w="22225">
            <a:solidFill>
              <a:srgbClr val="1E6F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525512" y="13716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Discord + coaching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29260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ECEEF1"/>
          </a:solidFill>
          <a:ln w="22225">
            <a:solidFill>
              <a:srgbClr val="7C839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25512" y="29718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Discord, no coaching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452360" y="45262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DFF3E6"/>
          </a:solidFill>
          <a:ln w="22225">
            <a:solidFill>
              <a:srgbClr val="2E8B5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5512" y="4572000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Observer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Lifetime tools · email list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Discord · every cancel lands here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875520" y="452628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DFF3E6"/>
          </a:solidFill>
          <a:ln w="22225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948672" y="4572000"/>
            <a:ext cx="1773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 Labs products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paid subscriptions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 flipH="1">
            <a:off x="1920240" y="3383280"/>
            <a:ext cx="548640" cy="22860"/>
          </a:xfrm>
          <a:prstGeom prst="line">
            <a:avLst/>
          </a:prstGeom>
          <a:noFill/>
          <a:ln w="19050">
            <a:solidFill>
              <a:srgbClr val="F2B134"/>
            </a:solidFill>
            <a:prstDash val="solid"/>
            <a:headEnd type="triangle"/>
          </a:ln>
        </p:spPr>
      </p:sp>
      <p:sp>
        <p:nvSpPr>
          <p:cNvPr id="20" name="Text 18"/>
          <p:cNvSpPr txBox="1"/>
          <p:nvPr/>
        </p:nvSpPr>
        <p:spPr>
          <a:xfrm>
            <a:off x="365760" y="3794760"/>
            <a:ext cx="1645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Observer · $100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188720" y="1115568"/>
            <a:ext cx="9144" cy="1947672"/>
          </a:xfrm>
          <a:prstGeom prst="line">
            <a:avLst/>
          </a:prstGeom>
          <a:noFill/>
          <a:ln w="15875">
            <a:solidFill>
              <a:srgbClr val="1E6FD9"/>
            </a:solidFill>
            <a:prstDash val="sysDot"/>
          </a:ln>
        </p:spPr>
      </p:sp>
      <p:sp>
        <p:nvSpPr>
          <p:cNvPr id="22" name="Shape 20"/>
          <p:cNvSpPr/>
          <p:nvPr/>
        </p:nvSpPr>
        <p:spPr>
          <a:xfrm>
            <a:off x="1188720" y="1115568"/>
            <a:ext cx="6675120" cy="9144"/>
          </a:xfrm>
          <a:prstGeom prst="line">
            <a:avLst/>
          </a:prstGeom>
          <a:noFill/>
          <a:ln w="15875">
            <a:solidFill>
              <a:srgbClr val="1E6FD9"/>
            </a:solidFill>
            <a:prstDash val="sysDot"/>
          </a:ln>
        </p:spPr>
      </p:sp>
      <p:sp>
        <p:nvSpPr>
          <p:cNvPr id="23" name="Shape 21"/>
          <p:cNvSpPr/>
          <p:nvPr/>
        </p:nvSpPr>
        <p:spPr>
          <a:xfrm>
            <a:off x="7863840" y="1115568"/>
            <a:ext cx="9144" cy="210312"/>
          </a:xfrm>
          <a:prstGeom prst="line">
            <a:avLst/>
          </a:prstGeom>
          <a:noFill/>
          <a:ln w="19050">
            <a:solidFill>
              <a:srgbClr val="1E6FD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2926080" y="987552"/>
            <a:ext cx="14630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Navigator direct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463040" y="3749040"/>
            <a:ext cx="9144" cy="2121408"/>
          </a:xfrm>
          <a:prstGeom prst="line">
            <a:avLst/>
          </a:prstGeom>
          <a:noFill/>
          <a:ln w="15875">
            <a:solidFill>
              <a:srgbClr val="7C8391"/>
            </a:solidFill>
            <a:prstDash val="sysDot"/>
          </a:ln>
        </p:spPr>
      </p:sp>
      <p:sp>
        <p:nvSpPr>
          <p:cNvPr id="26" name="Shape 24"/>
          <p:cNvSpPr/>
          <p:nvPr/>
        </p:nvSpPr>
        <p:spPr>
          <a:xfrm>
            <a:off x="1463040" y="5870448"/>
            <a:ext cx="8183880" cy="9144"/>
          </a:xfrm>
          <a:prstGeom prst="line">
            <a:avLst/>
          </a:prstGeom>
          <a:noFill/>
          <a:ln w="15875">
            <a:solidFill>
              <a:srgbClr val="7C8391"/>
            </a:solidFill>
            <a:prstDash val="sysDot"/>
          </a:ln>
        </p:spPr>
      </p:sp>
      <p:sp>
        <p:nvSpPr>
          <p:cNvPr id="27" name="Shape 25"/>
          <p:cNvSpPr/>
          <p:nvPr/>
        </p:nvSpPr>
        <p:spPr>
          <a:xfrm>
            <a:off x="9646920" y="3703320"/>
            <a:ext cx="9144" cy="2167128"/>
          </a:xfrm>
          <a:prstGeom prst="line">
            <a:avLst/>
          </a:prstGeom>
          <a:noFill/>
          <a:ln w="15875">
            <a:solidFill>
              <a:srgbClr val="7C8391"/>
            </a:solidFill>
            <a:prstDash val="sysDot"/>
          </a:ln>
        </p:spPr>
      </p:sp>
      <p:sp>
        <p:nvSpPr>
          <p:cNvPr id="28" name="Shape 26"/>
          <p:cNvSpPr/>
          <p:nvPr/>
        </p:nvSpPr>
        <p:spPr>
          <a:xfrm>
            <a:off x="9372600" y="3703320"/>
            <a:ext cx="274320" cy="9144"/>
          </a:xfrm>
          <a:prstGeom prst="line">
            <a:avLst/>
          </a:prstGeom>
          <a:noFill/>
          <a:ln w="19050">
            <a:solidFill>
              <a:srgbClr val="7C8391"/>
            </a:solidFill>
            <a:prstDash val="solid"/>
            <a:head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234440" y="5577840"/>
            <a:ext cx="14630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C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 Activator direct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389120" y="3383280"/>
            <a:ext cx="457200" cy="9144"/>
          </a:xfrm>
          <a:prstGeom prst="line">
            <a:avLst/>
          </a:prstGeom>
          <a:noFill/>
          <a:ln w="19050">
            <a:solidFill>
              <a:srgbClr val="F2B13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349240" y="3840480"/>
            <a:ext cx="9144" cy="10972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4251960" y="4315968"/>
            <a:ext cx="17373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early / day 42 incomplete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 flipH="1">
            <a:off x="6766560" y="2103120"/>
            <a:ext cx="685800" cy="1005840"/>
          </a:xfrm>
          <a:prstGeom prst="line">
            <a:avLst/>
          </a:prstGeom>
          <a:noFill/>
          <a:ln w="19050">
            <a:solidFill>
              <a:srgbClr val="1E6FD9"/>
            </a:solidFill>
            <a:prstDash val="solid"/>
            <a:headEnd type="triangle"/>
          </a:ln>
        </p:spPr>
      </p:sp>
      <p:sp>
        <p:nvSpPr>
          <p:cNvPr id="34" name="Text 32"/>
          <p:cNvSpPr txBox="1"/>
          <p:nvPr/>
        </p:nvSpPr>
        <p:spPr>
          <a:xfrm>
            <a:off x="5943600" y="2011680"/>
            <a:ext cx="12801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Navigator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766560" y="3383280"/>
            <a:ext cx="685800" cy="9144"/>
          </a:xfrm>
          <a:prstGeom prst="line">
            <a:avLst/>
          </a:prstGeom>
          <a:noFill/>
          <a:ln w="19050">
            <a:solidFill>
              <a:srgbClr val="7C8391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6784848" y="2999232"/>
            <a:ext cx="658368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C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66560" y="3657600"/>
            <a:ext cx="685800" cy="1005840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5989320" y="4572000"/>
            <a:ext cx="14173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42, course complete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915400" y="3840480"/>
            <a:ext cx="9144" cy="685800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  <a:headEnd type="triangle"/>
          </a:ln>
        </p:spPr>
      </p:sp>
      <p:sp>
        <p:nvSpPr>
          <p:cNvPr id="40" name="Text 38"/>
          <p:cNvSpPr txBox="1"/>
          <p:nvPr/>
        </p:nvSpPr>
        <p:spPr>
          <a:xfrm>
            <a:off x="8979408" y="4114800"/>
            <a:ext cx="7315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046720" y="2240280"/>
            <a:ext cx="9144" cy="685800"/>
          </a:xfrm>
          <a:prstGeom prst="line">
            <a:avLst/>
          </a:prstGeom>
          <a:noFill/>
          <a:ln w="19050">
            <a:solidFill>
              <a:srgbClr val="1E6FD9"/>
            </a:solidFill>
            <a:prstDash val="solid"/>
            <a:headEnd type="triangle"/>
          </a:ln>
        </p:spPr>
      </p:sp>
      <p:sp>
        <p:nvSpPr>
          <p:cNvPr id="42" name="Text 40"/>
          <p:cNvSpPr txBox="1"/>
          <p:nvPr/>
        </p:nvSpPr>
        <p:spPr>
          <a:xfrm>
            <a:off x="7178040" y="2450592"/>
            <a:ext cx="8229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778240" y="2240280"/>
            <a:ext cx="9144" cy="685800"/>
          </a:xfrm>
          <a:prstGeom prst="line">
            <a:avLst/>
          </a:prstGeom>
          <a:noFill/>
          <a:ln w="19050">
            <a:solidFill>
              <a:srgbClr val="7C8391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8869680" y="2450592"/>
            <a:ext cx="9144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C8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downgrade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372600" y="2011680"/>
            <a:ext cx="137160" cy="9144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72600" y="3246120"/>
            <a:ext cx="137160" cy="9144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509760" y="2011680"/>
            <a:ext cx="9144" cy="2743200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372600" y="4754880"/>
            <a:ext cx="137160" cy="9144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  <a:headEnd type="triangle"/>
          </a:ln>
        </p:spPr>
      </p:sp>
      <p:sp>
        <p:nvSpPr>
          <p:cNvPr id="49" name="Text 47"/>
          <p:cNvSpPr txBox="1"/>
          <p:nvPr/>
        </p:nvSpPr>
        <p:spPr>
          <a:xfrm>
            <a:off x="9921240" y="3154680"/>
            <a:ext cx="11887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cancels → floor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 flipH="1">
            <a:off x="9372600" y="4914900"/>
            <a:ext cx="502920" cy="68580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  <a:headEnd type="triangle"/>
          </a:ln>
        </p:spPr>
      </p:sp>
      <p:sp>
        <p:nvSpPr>
          <p:cNvPr id="51" name="Text 49"/>
          <p:cNvSpPr txBox="1"/>
          <p:nvPr/>
        </p:nvSpPr>
        <p:spPr>
          <a:xfrm>
            <a:off x="9235440" y="4599432"/>
            <a:ext cx="77724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6419088"/>
            <a:ext cx="320040" cy="228600"/>
          </a:xfrm>
          <a:prstGeom prst="roundRect">
            <a:avLst>
              <a:gd name="adj" fmla="val 20000"/>
            </a:avLst>
          </a:prstGeom>
          <a:solidFill>
            <a:srgbClr val="FDF1D6"/>
          </a:solidFill>
          <a:ln w="15875">
            <a:solidFill>
              <a:srgbClr val="F2B13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41248" y="6391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731874" y="6419088"/>
            <a:ext cx="320040" cy="228600"/>
          </a:xfrm>
          <a:prstGeom prst="roundRect">
            <a:avLst>
              <a:gd name="adj" fmla="val 20000"/>
            </a:avLst>
          </a:prstGeom>
          <a:solidFill>
            <a:srgbClr val="DCEBFF"/>
          </a:solidFill>
          <a:ln w="15875">
            <a:solidFill>
              <a:srgbClr val="1E6FD9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2115922" y="6391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077870" y="6419088"/>
            <a:ext cx="320040" cy="228600"/>
          </a:xfrm>
          <a:prstGeom prst="roundRect">
            <a:avLst>
              <a:gd name="adj" fmla="val 20000"/>
            </a:avLst>
          </a:prstGeom>
          <a:solidFill>
            <a:srgbClr val="ECEEF1"/>
          </a:solidFill>
          <a:ln w="15875">
            <a:solidFill>
              <a:srgbClr val="7C839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461918" y="6391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Activator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423867" y="6419088"/>
            <a:ext cx="320040" cy="228600"/>
          </a:xfrm>
          <a:prstGeom prst="roundRect">
            <a:avLst>
              <a:gd name="adj" fmla="val 20000"/>
            </a:avLst>
          </a:prstGeom>
          <a:solidFill>
            <a:srgbClr val="DFF3E6"/>
          </a:solidFill>
          <a:ln w="15875">
            <a:solidFill>
              <a:srgbClr val="2E8B57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807915" y="6391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Observer (tools floor)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267651" y="6419088"/>
            <a:ext cx="320040" cy="228600"/>
          </a:xfrm>
          <a:prstGeom prst="roundRect">
            <a:avLst>
              <a:gd name="adj" fmla="val 20000"/>
            </a:avLst>
          </a:prstGeom>
          <a:solidFill>
            <a:srgbClr val="F3F4F6"/>
          </a:solidFill>
          <a:ln w="15875">
            <a:solidFill>
              <a:srgbClr val="6B728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651699" y="63916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Dropout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4572000" y="60533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truth: WooCommerce Subscriptions. WooCord mirrors every subscription change into a Discord role.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six weeks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Observer sees week by week, and where the campaign kicks 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819656" cy="822960"/>
          </a:xfrm>
          <a:prstGeom prst="rect">
            <a:avLst/>
          </a:prstGeom>
          <a:solidFill>
            <a:srgbClr val="FDF1D6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331720" y="1737360"/>
            <a:ext cx="1819656" cy="822960"/>
          </a:xfrm>
          <a:prstGeom prst="rect">
            <a:avLst/>
          </a:prstGeom>
          <a:solidFill>
            <a:srgbClr val="FDF1D6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331720" y="1737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06240" y="1737360"/>
            <a:ext cx="1819656" cy="822960"/>
          </a:xfrm>
          <a:prstGeom prst="rect">
            <a:avLst/>
          </a:prstGeom>
          <a:solidFill>
            <a:srgbClr val="FDF1D6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1737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80760" y="1737360"/>
            <a:ext cx="1819656" cy="822960"/>
          </a:xfrm>
          <a:prstGeom prst="rect">
            <a:avLst/>
          </a:prstGeom>
          <a:solidFill>
            <a:srgbClr val="FDF1D6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1737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1819656" cy="822960"/>
          </a:xfrm>
          <a:prstGeom prst="rect">
            <a:avLst/>
          </a:prstGeom>
          <a:solidFill>
            <a:srgbClr val="DCEBFF"/>
          </a:solidFill>
          <a:ln w="19050">
            <a:solidFill>
              <a:srgbClr val="1E6F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0" y="1737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829800" y="1737360"/>
            <a:ext cx="1819656" cy="822960"/>
          </a:xfrm>
          <a:prstGeom prst="rect">
            <a:avLst/>
          </a:prstGeom>
          <a:solidFill>
            <a:srgbClr val="DCEBFF"/>
          </a:solidFill>
          <a:ln w="19050">
            <a:solidFill>
              <a:srgbClr val="1E6F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29800" y="1737360"/>
            <a:ext cx="1819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517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Navigator access · training · Observer Discord role · card reads “Your plan — week N of 6”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955280" y="2651760"/>
            <a:ext cx="3694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6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special Navigator price, sale badge, countdown to day 42. Completion = 42 days AND course done → lifetime tools.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DCEBFF"/>
          </a:solidFill>
          <a:ln w="19050">
            <a:solidFill>
              <a:srgbClr val="1E6FD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Chooses Navigator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4348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switches to Navigator. WooCord assigns the Navigator role. Card reads “Your plan”.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297680" y="365760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ECEEF1"/>
          </a:solidFill>
          <a:ln w="19050">
            <a:solidFill>
              <a:srgbClr val="7C839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Falls back to Activator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4348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switches to Activator. Coaching access drops; tools and Discord stay. Never promoted — the fallback after the Navigator pitch.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138160" y="3657600"/>
            <a:ext cx="3566160" cy="2377440"/>
          </a:xfrm>
          <a:prstGeom prst="roundRect">
            <a:avLst>
              <a:gd name="adj" fmla="val 5769"/>
            </a:avLst>
          </a:prstGeom>
          <a:solidFill>
            <a:srgbClr val="DFF3E6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0" y="3886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Completes, no choice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44348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42 with the course done: Expired Observer. Keeps lifetime tools and the email list, loses Discord. Cancels early or finishes without the course: Early Dropout, email list only.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2179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floor is earned by finishing. An early cancel keeps only the email list.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enforces each transition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 changes the subscription, WooCord follows with the Discord role, the pricing cards simply reflect the new state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4712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926080"/>
                <a:gridCol w="2651760"/>
                <a:gridCol w="30175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WooCommerce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WooCord (Discord)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Pricing cards show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 → Observer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Observer subscription (single payment, 6-week term)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Guides member into Discord; assigns Observer role (coaching access)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plan — week 1 of 6”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→ day 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Nothing; plugin computes day from subscription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 price and countdown on Navigator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→ Navigator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ends; Navigator subscription starts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 role to Navigator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plan” on Navigator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→ Activator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ends; Activator subscription starts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 role to Activator (drops coaching)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plan” on Activator; “Upgrade” on Navigator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→ Expired Observer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ends at day 42, course 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 access 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“Completed” card; join buttons at regular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Observer → Early Dropout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Cancelled early, or day 42 without the course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 access 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table; no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 → Navigator / Activator direct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paid subscription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Assigns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plan”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Navigator / Activator → Expired Observer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subscription ends (any reason, after period end)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Discord access removed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Compact “Completed”; join buttons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Activator ↔ Navigator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Switches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plan” moves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Expired Observer → Navigator / Activator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subscription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Assigns 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“Your plan”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Seated decisions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seated these on 2026-09-26. They are law for the plugin and for WooCord, ActiveCampaign, and Labs.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1E2E55"/>
          </a:solidFill>
          <a:ln w="12700">
            <a:solidFill>
              <a:srgbClr val="3B4F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731520" cy="7315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Completion predicate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423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Both: 42 days elapsed since Observer start AND the six-week course marked complete. One expression, one clock for the campaign.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1E2E55"/>
          </a:solidFill>
          <a:ln w="12700">
            <a:solidFill>
              <a:srgbClr val="3B4F7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1920240"/>
            <a:ext cx="731520" cy="7315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1920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 table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423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tiers are buyable cold. Observer is recommended, not required.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1E2E55"/>
          </a:solidFill>
          <a:ln w="12700">
            <a:solidFill>
              <a:srgbClr val="3B4F7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06240"/>
            <a:ext cx="731520" cy="7315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· D4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cancels land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709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Observer cancel: email list only. Any paid-tier cancel, ever: Expired Observer — tools floor, email, no Discord.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5486400" cy="2011680"/>
          </a:xfrm>
          <a:prstGeom prst="roundRect">
            <a:avLst>
              <a:gd name="adj" fmla="val 6818"/>
            </a:avLst>
          </a:prstGeom>
          <a:solidFill>
            <a:srgbClr val="1E2E55"/>
          </a:solidFill>
          <a:ln w="12700">
            <a:solidFill>
              <a:srgbClr val="3B4F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206240"/>
            <a:ext cx="731520" cy="731520"/>
          </a:xfrm>
          <a:prstGeom prst="ellipse">
            <a:avLst/>
          </a:prstGeom>
          <a:solidFill>
            <a:srgbClr val="F2B134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 · D6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states and campaign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70916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Pending-cancel, on-hold, failed payment: still the tier until period end, then D4. Campaign starts week 5, hard stop day 42.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Membership Lifecycle Law v1.0 §2 for the seated table and adopted advisor leans L1–L4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2026-09-26T14:51:03Z</dcterms:created>
  <dcterms:modified xsi:type="dcterms:W3CDTF">2026-09-26T14:51:03Z</dcterms:modified>
</cp:coreProperties>
</file>