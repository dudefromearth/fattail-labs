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path starts with the $100 Observer purchase and ends in one of four standing states: Navigator, Activator, tools-only (lapsed Observer), or email-list-only (early dropout). Dashed nodes are states the spec has not yet defined — see open questions 16.9 and 16.10 in the specification.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FatTail Membership Lifecycle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from the Observer purchase — and what enforces each step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Pricing Cards Plugin Specification v1.0  ·  2026-09-26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39319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7C8391"/>
          </a:solidFill>
          <a:ln w="12700">
            <a:solidFill>
              <a:srgbClr val="7C83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39319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three different jobs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is a time-boxed on-ramp, Activator is the anchor, Navigator is the featured full membership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FDF1D6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once  ·  six weeks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Navigator gets, for six weeks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Six-week training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it → lifetime tool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monthly/annual toggle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394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ECEEF1"/>
          </a:solidFill>
          <a:ln w="19050">
            <a:solidFill>
              <a:srgbClr val="7C839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Activator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 annual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34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coaching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5394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— makes Navigator the obvious value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DCEBFF"/>
          </a:solidFill>
          <a:ln w="31750">
            <a:solidFill>
              <a:srgbClr val="1E6FD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Navigator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 annual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517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5394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card — the full membership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lifecycle — every path from Observer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3063240"/>
            <a:ext cx="1463040" cy="685800"/>
          </a:xfrm>
          <a:prstGeom prst="ellipse">
            <a:avLst/>
          </a:prstGeom>
          <a:solidFill>
            <a:srgbClr val="F3F4F6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063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29260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DF1D6"/>
          </a:solidFill>
          <a:ln w="22225">
            <a:solidFill>
              <a:srgbClr val="F2B1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42032" y="2971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· weeks 1–4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Navigator access + training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29260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DF1D6"/>
          </a:solidFill>
          <a:ln w="22225">
            <a:solidFill>
              <a:srgbClr val="F2B1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9472" y="2971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· weeks 5–6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price on Navigator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tools unlocked on completion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49834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BE5E2"/>
          </a:solidFill>
          <a:ln w="22225">
            <a:solidFill>
              <a:srgbClr val="C0392B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2542032" y="50292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dropout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list only · to define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13258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DCEBFF"/>
          </a:solidFill>
          <a:ln w="22225">
            <a:solidFill>
              <a:srgbClr val="1E6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25512" y="13716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Discord + coaching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29260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ECEEF1"/>
          </a:solidFill>
          <a:ln w="22225">
            <a:solidFill>
              <a:srgbClr val="7C839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25512" y="2971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Discord, no coaching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45262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DFF3E6"/>
          </a:solidFill>
          <a:ln w="22225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512" y="45720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Observer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tools via IKI Labs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list · no Discord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875520" y="13258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BE5E2"/>
          </a:solidFill>
          <a:ln w="22225">
            <a:solidFill>
              <a:srgbClr val="C0392B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9948672" y="13716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Ex-Navigator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to define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875520" y="29260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BE5E2"/>
          </a:solidFill>
          <a:ln w="22225">
            <a:solidFill>
              <a:srgbClr val="C0392B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9948672" y="29718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Ex-Activator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to define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875520" y="45262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DFF3E6"/>
          </a:solidFill>
          <a:ln w="22225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48672" y="45720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 Labs products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paid subscriptions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flipH="1">
            <a:off x="1920240" y="3383280"/>
            <a:ext cx="548640" cy="22860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  <a:headEnd type="triangle"/>
          </a:ln>
        </p:spPr>
      </p:sp>
      <p:sp>
        <p:nvSpPr>
          <p:cNvPr id="24" name="Text 22"/>
          <p:cNvSpPr txBox="1"/>
          <p:nvPr/>
        </p:nvSpPr>
        <p:spPr>
          <a:xfrm>
            <a:off x="365760" y="3794760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Observer · $100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0" y="3383280"/>
            <a:ext cx="457200" cy="9144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429000" y="3840480"/>
            <a:ext cx="9144" cy="114300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788920" y="425196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early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flipH="1">
            <a:off x="6766560" y="2103120"/>
            <a:ext cx="685800" cy="1005840"/>
          </a:xfrm>
          <a:prstGeom prst="line">
            <a:avLst/>
          </a:prstGeom>
          <a:noFill/>
          <a:ln w="19050">
            <a:solidFill>
              <a:srgbClr val="1E6FD9"/>
            </a:solidFill>
            <a:prstDash val="solid"/>
            <a:head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943600" y="201168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Navigator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66560" y="3383280"/>
            <a:ext cx="685800" cy="9144"/>
          </a:xfrm>
          <a:prstGeom prst="line">
            <a:avLst/>
          </a:prstGeom>
          <a:noFill/>
          <a:ln w="19050">
            <a:solidFill>
              <a:srgbClr val="7C8391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784848" y="2999232"/>
            <a:ext cx="65836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66560" y="3657600"/>
            <a:ext cx="685800" cy="100584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760720" y="4206240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ends, no choice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915400" y="3840480"/>
            <a:ext cx="9144" cy="68580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  <a:head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979408" y="4041648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rejoins (either tier)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46720" y="2240280"/>
            <a:ext cx="9144" cy="685800"/>
          </a:xfrm>
          <a:prstGeom prst="line">
            <a:avLst/>
          </a:prstGeom>
          <a:noFill/>
          <a:ln w="19050">
            <a:solidFill>
              <a:srgbClr val="1E6FD9"/>
            </a:solidFill>
            <a:prstDash val="solid"/>
            <a:headEnd type="triangle"/>
          </a:ln>
        </p:spPr>
      </p:sp>
      <p:sp>
        <p:nvSpPr>
          <p:cNvPr id="37" name="Text 35"/>
          <p:cNvSpPr txBox="1"/>
          <p:nvPr/>
        </p:nvSpPr>
        <p:spPr>
          <a:xfrm>
            <a:off x="7178040" y="2450592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778240" y="2240280"/>
            <a:ext cx="9144" cy="685800"/>
          </a:xfrm>
          <a:prstGeom prst="line">
            <a:avLst/>
          </a:prstGeom>
          <a:noFill/>
          <a:ln w="19050">
            <a:solidFill>
              <a:srgbClr val="7C8391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8869680" y="2450592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 flipH="1">
            <a:off x="9372600" y="1714500"/>
            <a:ext cx="502920" cy="6858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41" name="Text 39"/>
          <p:cNvSpPr txBox="1"/>
          <p:nvPr/>
        </p:nvSpPr>
        <p:spPr>
          <a:xfrm>
            <a:off x="9235440" y="1399032"/>
            <a:ext cx="7772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 flipH="1">
            <a:off x="9372600" y="3314700"/>
            <a:ext cx="502920" cy="6858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headEnd type="triangle"/>
          </a:ln>
        </p:spPr>
      </p:sp>
      <p:sp>
        <p:nvSpPr>
          <p:cNvPr id="43" name="Text 41"/>
          <p:cNvSpPr txBox="1"/>
          <p:nvPr/>
        </p:nvSpPr>
        <p:spPr>
          <a:xfrm>
            <a:off x="9235440" y="2999232"/>
            <a:ext cx="7772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 flipH="1">
            <a:off x="9372600" y="4914900"/>
            <a:ext cx="502920" cy="6858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  <a:headEnd type="triangle"/>
          </a:ln>
        </p:spPr>
      </p:sp>
      <p:sp>
        <p:nvSpPr>
          <p:cNvPr id="45" name="Text 43"/>
          <p:cNvSpPr txBox="1"/>
          <p:nvPr/>
        </p:nvSpPr>
        <p:spPr>
          <a:xfrm>
            <a:off x="9235440" y="4599432"/>
            <a:ext cx="7772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6355080"/>
            <a:ext cx="320040" cy="228600"/>
          </a:xfrm>
          <a:prstGeom prst="roundRect">
            <a:avLst>
              <a:gd name="adj" fmla="val 20000"/>
            </a:avLst>
          </a:prstGeom>
          <a:solidFill>
            <a:srgbClr val="FDF1D6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41248" y="6327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709928" y="6355080"/>
            <a:ext cx="320040" cy="228600"/>
          </a:xfrm>
          <a:prstGeom prst="roundRect">
            <a:avLst>
              <a:gd name="adj" fmla="val 20000"/>
            </a:avLst>
          </a:prstGeom>
          <a:solidFill>
            <a:srgbClr val="DCEBFF"/>
          </a:solidFill>
          <a:ln w="15875">
            <a:solidFill>
              <a:srgbClr val="1E6FD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093976" y="6327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031236" y="6355080"/>
            <a:ext cx="320040" cy="228600"/>
          </a:xfrm>
          <a:prstGeom prst="roundRect">
            <a:avLst>
              <a:gd name="adj" fmla="val 20000"/>
            </a:avLst>
          </a:prstGeom>
          <a:solidFill>
            <a:srgbClr val="ECEEF1"/>
          </a:solidFill>
          <a:ln w="15875">
            <a:solidFill>
              <a:srgbClr val="7C839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415284" y="6327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352544" y="6355080"/>
            <a:ext cx="320040" cy="228600"/>
          </a:xfrm>
          <a:prstGeom prst="roundRect">
            <a:avLst>
              <a:gd name="adj" fmla="val 20000"/>
            </a:avLst>
          </a:prstGeom>
          <a:solidFill>
            <a:srgbClr val="DFF3E6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736592" y="6327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floor (never leaves)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39712" y="6355080"/>
            <a:ext cx="320040" cy="228600"/>
          </a:xfrm>
          <a:prstGeom prst="roundRect">
            <a:avLst>
              <a:gd name="adj" fmla="val 20000"/>
            </a:avLst>
          </a:prstGeom>
          <a:solidFill>
            <a:srgbClr val="FBE5E2"/>
          </a:solidFill>
          <a:ln w="15875">
            <a:solidFill>
              <a:srgbClr val="C0392B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7223760" y="6327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defined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4572000" y="5897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truth: WooCommerce Subscriptions. WooCord mirrors every subscription change into a Discord role.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six weeks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Observer sees week by week, and where the campaign kicks 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819656" cy="822960"/>
          </a:xfrm>
          <a:prstGeom prst="rect">
            <a:avLst/>
          </a:prstGeom>
          <a:solidFill>
            <a:srgbClr val="FDF1D6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31720" y="1737360"/>
            <a:ext cx="1819656" cy="822960"/>
          </a:xfrm>
          <a:prstGeom prst="rect">
            <a:avLst/>
          </a:prstGeom>
          <a:solidFill>
            <a:srgbClr val="FDF1D6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1737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737360"/>
            <a:ext cx="1819656" cy="822960"/>
          </a:xfrm>
          <a:prstGeom prst="rect">
            <a:avLst/>
          </a:prstGeom>
          <a:solidFill>
            <a:srgbClr val="FDF1D6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1737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1819656" cy="822960"/>
          </a:xfrm>
          <a:prstGeom prst="rect">
            <a:avLst/>
          </a:prstGeom>
          <a:solidFill>
            <a:srgbClr val="FDF1D6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737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1819656" cy="822960"/>
          </a:xfrm>
          <a:prstGeom prst="rect">
            <a:avLst/>
          </a:prstGeom>
          <a:solidFill>
            <a:srgbClr val="DCEBFF"/>
          </a:solidFill>
          <a:ln w="19050">
            <a:solidFill>
              <a:srgbClr val="1E6F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0" y="1737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829800" y="1737360"/>
            <a:ext cx="1819656" cy="822960"/>
          </a:xfrm>
          <a:prstGeom prst="rect">
            <a:avLst/>
          </a:prstGeom>
          <a:solidFill>
            <a:srgbClr val="DCEBFF"/>
          </a:solidFill>
          <a:ln w="19050">
            <a:solidFill>
              <a:srgbClr val="1E6F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29800" y="1737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51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Navigator access · training · Observer Discord role · card reads “Your plan — week N of 6”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2651760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special Navigator price, sale badge, per-user countdown to trial end. Completion unlocks lifetime tools.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DCEBFF"/>
          </a:solidFill>
          <a:ln w="19050">
            <a:solidFill>
              <a:srgbClr val="1E6F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Chooses Navigator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434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switches to Navigator. WooCord assigns the Navigator role. Card reads “Your plan”.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65760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ECEEF1"/>
          </a:solidFill>
          <a:ln w="19050">
            <a:solidFill>
              <a:srgbClr val="7C839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Falls back to Activator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434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switches to Activator. Coaching access drops; tools and Discord stay. Never promoted — the fallback after the Navigator pitch.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365760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DFF3E6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Makes no choice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4434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subscription ends. Keeps lifetime tools (IKI Labs) and stays on the email list. Loses Discord. Warmest possible audience for a later rejoin.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leaves empty-handed: the floor is tools plus the email list, forever.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enforces each transition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changes the subscription, WooCord follows with the Discord role, the pricing cards simply reflect the new state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834640"/>
                <a:gridCol w="3200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WooCommerce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WooCord (Discord)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cards show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 → Observer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Observer subscription (single payment, 6-week term)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Guides member into Discord; assigns Observer role (coaching access)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plan — week 1 of 6”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→ week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Nothing; plugin computes week from subscription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price and countdown on Navigator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→ Navigator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ends; Navigator subscription starts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 role to Navigator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plan” on Navigator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→ Activator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ends; Activator subscription starts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 role to Activator (drops coaching)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plan” on Activator; “Upgrade” on Navigator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→ lapsed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ends; no new subscription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Lapsed role or Discord access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Lapsed table: tools noted, join buttons, campaign price if window 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→ early 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cancelled before completion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 access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table (lifetime tools: open question)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Activator ↔ Navigator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plan” moves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Lapsed → Navigator / Activator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subscription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Assigns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plan”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to decide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flow presumes an answer to these — the dashed nodes stay dashed until Coach decides.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1E2E55"/>
          </a:solidFill>
          <a:ln w="12700">
            <a:solidFill>
              <a:srgbClr val="3B4F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731520" cy="7315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Observer dropout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423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before completing the six weeks: email list only, or some tool access?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1E2E55"/>
          </a:solidFill>
          <a:ln w="12700">
            <a:solidFill>
              <a:srgbClr val="3B4F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20240"/>
            <a:ext cx="731520" cy="7315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16.10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Ex-Navigator / ex-Activator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423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cancelling a paid tier: treated as lapsed Observer (tools-only) if they completed the training, or as a plain non-member?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1E2E55"/>
          </a:solidFill>
          <a:ln w="12700">
            <a:solidFill>
              <a:srgbClr val="3B4F7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06240"/>
            <a:ext cx="731520" cy="7315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edge states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709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On-hold, pending-cancel, failed payment — member or not, for the cards and for Discord?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1E2E55"/>
          </a:solidFill>
          <a:ln w="12700">
            <a:solidFill>
              <a:srgbClr val="3B4F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206240"/>
            <a:ext cx="731520" cy="7315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window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709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week 5 — confirm. Does the offer extend past trial end for lapsed Observers?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refer to section 16 of Pricing Cards Plugin Specification v1.0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2026-09-26T13:39:21Z</dcterms:created>
  <dcterms:modified xsi:type="dcterms:W3CDTF">2026-09-26T13:39:21Z</dcterms:modified>
</cp:coreProperties>
</file>